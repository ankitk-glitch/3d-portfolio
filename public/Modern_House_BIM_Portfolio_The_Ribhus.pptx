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THE RIBHUS  •  theribhus.com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Arial"/>
              </a:defRPr>
            </a:pPr>
            <a:r>
              <a:t>Modern House:</a:t>
            </a:r>
          </a:p>
          <a:p>
            <a:pPr>
              <a:spcBef>
                <a:spcPts val="600"/>
              </a:spcBef>
              <a:defRPr sz="1600" b="1">
                <a:solidFill>
                  <a:srgbClr val="94A3B8"/>
                </a:solidFill>
                <a:latin typeface="Arial"/>
              </a:defRPr>
            </a:pPr>
            <a:r>
              <a:t>A Study in Minimalism | BIM Driven Design</a:t>
            </a:r>
            <a:br/>
            <a:r>
              <a:t>Full Project Documentation Set</a:t>
            </a:r>
          </a:p>
          <a:p>
            <a:pPr>
              <a:spcBef>
                <a:spcPts val="18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Complete architectural BIM modeling portfolio. Converts 2D scans, sketches, and CAD files into production-ready Autodesk Revit (.rvt) and ArchiCAD (.pln) models with watertight thermal envelopes for European architects and Energieberater.</a:t>
            </a:r>
          </a:p>
          <a:p>
            <a:pPr>
              <a:spcBef>
                <a:spcPts val="16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• Authoring Platform: Autodesk Revit 2024 + OpenBIM IFC4</a:t>
            </a:r>
            <a:br/>
            <a:r>
              <a:t>• Specification Level: LOD 300 (Strictly No MEP Overhead)</a:t>
            </a:r>
            <a:br/>
            <a:r>
              <a:t>• Compliance: DIN EN 12831, DIN 277, GEG 2024</a:t>
            </a:r>
            <a:br/>
            <a:r>
              <a:t>• Turnaround: 24 – 48 Hours</a:t>
            </a:r>
          </a:p>
        </p:txBody>
      </p:sp>
      <p:pic>
        <p:nvPicPr>
          <p:cNvPr id="4" name="Picture 3" descr="modern_house_orthographic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29200" cy="35563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Portfolio Presentation  •  The Ribhus  •  info@theribhus.com  •  https://ankitk-glitch.github.io/3d-portfolio/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PROJECT BRIEF  •  DWG NO: A-000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Executive Brief &amp; Spatial Zoning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02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Modern Minimalist Residence: Space Planning &amp;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Development of an efficient spatial layout and refined exterior character. The project balances a fluid floor plan across private and social zones, integrating high-end functional amenities with distinct material selections.</a:t>
            </a:r>
          </a:p>
          <a:p>
            <a:pPr>
              <a:spcBef>
                <a:spcPts val="1200"/>
              </a:spcBef>
              <a:defRPr sz="1100" b="1">
                <a:solidFill>
                  <a:srgbClr val="2563EB"/>
                </a:solidFill>
              </a:defRPr>
            </a:pPr>
            <a:r>
              <a:t>■  Strategic Spatial Zoning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Optimized floor plan separating 4 independent master bedrooms from a spacious, open-concept studio living area with double-height volume.</a:t>
            </a:r>
          </a:p>
          <a:p>
            <a:pPr>
              <a:spcBef>
                <a:spcPts val="1200"/>
              </a:spcBef>
              <a:defRPr sz="1100" b="1">
                <a:solidFill>
                  <a:srgbClr val="2563EB"/>
                </a:solidFill>
              </a:defRPr>
            </a:pPr>
            <a:r>
              <a:t>■  Material &amp; Facade Detail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Sharp architectural geometries wrapped in premium charcoal metal cladding, natural cedar timber battens, and triple-pane structural curtain walls.</a:t>
            </a:r>
          </a:p>
          <a:p>
            <a:pPr>
              <a:spcBef>
                <a:spcPts val="1200"/>
              </a:spcBef>
              <a:defRPr sz="1100" b="1">
                <a:solidFill>
                  <a:srgbClr val="2563EB"/>
                </a:solidFill>
              </a:defRPr>
            </a:pPr>
            <a:r>
              <a:t>■  Landscape &amp; Water Features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Curated site design integrating lush greenery with an infinity swimming pool, sunken fire pit lounge, and decorative water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463040"/>
            <a:ext cx="420624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Project Quantities (BIM Takeoff)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Plot / Site Area:  840.0 m²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Gross Floor Area (BGF):  342.5 m²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Net Usable Area (NRF):  278.4 m²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Heated Gross Volume (Ve):  965.0 m³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Envelope Surface Area (A):  612.0 m²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Compactness Ratio (A/Ve):  0.63 m⁻¹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Exterior Glazing Area:  118.4 m² (WWR: 32%)</a:t>
            </a:r>
          </a:p>
          <a:p>
            <a:pPr>
              <a:spcBef>
                <a:spcPts val="900"/>
              </a:spcBef>
              <a:defRPr sz="1000">
                <a:solidFill>
                  <a:srgbClr val="E2E8F0"/>
                </a:solidFill>
              </a:defRPr>
            </a:pPr>
            <a:r>
              <a:t>Energy Standard:  Passivhaus / KfW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ARCHITECTURAL 3D  •  DWG NO: A-001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Orthographic 3D Axonometric Model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03 of 12</a:t>
            </a:r>
          </a:p>
        </p:txBody>
      </p:sp>
      <p:pic>
        <p:nvPicPr>
          <p:cNvPr id="7" name="Picture 6" descr="modern_house_orthographic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772400" cy="54961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417320"/>
            <a:ext cx="274320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0020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Sheet Specification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Camera Type:</a:t>
            </a:r>
            <a:br/>
            <a:r>
              <a:t>Orthographic Axonometric (30°/60°)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BIM Authoring:</a:t>
            </a:r>
            <a:br/>
            <a:r>
              <a:t>Autodesk Revit 2024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Model LOD:</a:t>
            </a:r>
            <a:br/>
            <a:r>
              <a:t>LOD 300 (Design Development)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Site Hardscape:</a:t>
            </a:r>
            <a:br/>
            <a:r>
              <a:t>Driveway, Pergola, Pool Deck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Landscape Detail:</a:t>
            </a:r>
            <a:br/>
            <a:r>
              <a:t>Intensive Sedum Green Roof</a:t>
            </a:r>
          </a:p>
          <a:p>
            <a:pPr>
              <a:spcBef>
                <a:spcPts val="1000"/>
              </a:spcBef>
              <a:defRPr sz="900">
                <a:solidFill>
                  <a:srgbClr val="64748B"/>
                </a:solidFill>
              </a:defRPr>
            </a:pPr>
            <a:r>
              <a:t>Thermal Perimeter:</a:t>
            </a:r>
            <a:br/>
            <a:r>
              <a:t>Watertight Envelope Shell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FLOOR PLANS  •  DWG NO: A-101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Ground Floor &amp; Master Site Plan (Scale 1:100)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04 of 12</a:t>
            </a:r>
          </a:p>
        </p:txBody>
      </p:sp>
      <p:pic>
        <p:nvPicPr>
          <p:cNvPr id="7" name="Picture 6" descr="floor_pl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315200" cy="54620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417320"/>
            <a:ext cx="320040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0020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Ground Floor Programming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Gross Floor Area (BGF): 185.2 m²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Double-Height Living: 64.8 m² (5.8m ceiling)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Dining &amp; Kitchen Island: 38.2 m²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Guest Bedroom Suite: 22.4 m² (with ensuite)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Double Garage: 38.0 m²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Terrace &amp; Pool Deck: 92.5 m²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DIN Compliance: DIN 1356 &amp; DIN 277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FLOOR PLANS  •  DWG NO: A-102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Upper Floor &amp; Intensive Green Roof Terrace (Scale 1:100)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05 of 12</a:t>
            </a:r>
          </a:p>
        </p:txBody>
      </p:sp>
      <p:pic>
        <p:nvPicPr>
          <p:cNvPr id="7" name="Picture 6" descr="3_Architectural_Floorplan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315200" cy="7315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417320"/>
            <a:ext cx="320040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0020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Upper Level Programming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Gross Floor Area (BGF): 157.3 m²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Master Bedroom 01: 28.5 m² (Ensuite + Walk-in)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Bedroom Suites 02, 03, 04: 18.2 m² each (Independent)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Central Gallery Lounge: 24.0 m² overlooking foyer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Green Roof Terrace: 88.0 m² (Sedum roof)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• Clear Ceiling Height: 2.70 m finished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SECTIONS &amp; ELEVATIONS  •  DWG NO: A-201 / A-301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Architectural Building Sections &amp; Exterior Facade Elevations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06 of 12</a:t>
            </a:r>
          </a:p>
        </p:txBody>
      </p:sp>
      <p:pic>
        <p:nvPicPr>
          <p:cNvPr id="7" name="Picture 6" descr="section_dra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212080" cy="3891686"/>
          </a:xfrm>
          <a:prstGeom prst="rect">
            <a:avLst/>
          </a:prstGeom>
        </p:spPr>
      </p:pic>
      <p:pic>
        <p:nvPicPr>
          <p:cNvPr id="8" name="Picture 7" descr="elevation_draw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212080" cy="38916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5349240"/>
            <a:ext cx="10728655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Technical Datum: Floor-to-Floor 3.30m  |  Clear Heights: 2.85m Ground, 2.70m Level 1  |  Facade: Anthracite Zinc Standing-Seam Cladding (RAL 7016) + Cedar Siding  |  Glazing: Triple Insulated Argon (Ug = 0.5 W/m²K, Uw = 0.78 W/m²K)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BIM HIERARCHY  •  DWG NO: A-401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3D Exploded Axonometric &amp; Model Assembly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07 of 12</a:t>
            </a:r>
          </a:p>
        </p:txBody>
      </p:sp>
      <p:pic>
        <p:nvPicPr>
          <p:cNvPr id="7" name="Picture 6" descr="axonometric_explod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132320" cy="53254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4-Tier BIM Hierarchy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▲  Tier 4: Roof Deck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Extensive green roof garden, sedum layer, drainage mat, parapet capping.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▲  Tier 3: Upper Level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4 master suites, lightweight drywall partitions, cantilevered balconies.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▲  Tier 2: Ground Floor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Reinforced concrete columns, floor-to-ceiling glass curtain walls, double garage.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</a:defRPr>
            </a:pPr>
            <a:r>
              <a:t>▲  Tier 1: Sub-Structure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Frost-protected foundation slab, site topography, swimming pool basin.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BUILDING PHYSICS  •  DWG NO: A-501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Building Physics &amp; Thermal Envelope Calculation (DIN EN 12831)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08 of 12</a:t>
            </a:r>
          </a:p>
        </p:txBody>
      </p:sp>
      <p:pic>
        <p:nvPicPr>
          <p:cNvPr id="7" name="Picture 6" descr="energy_audit_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7132320" cy="53254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Thermal Envelope Metrics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Exterior Wall U-Value:</a:t>
            </a:r>
            <a:br/>
            <a:r>
              <a:t>0.16 W/m²K (Passiv standard)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Roof Deck U-Value:</a:t>
            </a:r>
            <a:br/>
            <a:r>
              <a:t>0.12 W/m²K (PIR rigid foam)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Ground Slab U-Value:</a:t>
            </a:r>
            <a:br/>
            <a:r>
              <a:t>0.18 W/m²K (EPS perimeter)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Window Assembly Uw:</a:t>
            </a:r>
            <a:br/>
            <a:r>
              <a:t>0.78 W/m²K (Triple glazed)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Envelope Area (A):</a:t>
            </a:r>
            <a:br/>
            <a:r>
              <a:t>612.0 m² watertight shell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Gross Heated Volume:</a:t>
            </a:r>
            <a:br/>
            <a:r>
              <a:t>965.0 m³</a:t>
            </a:r>
          </a:p>
          <a:p>
            <a:pPr>
              <a:spcBef>
                <a:spcPts val="700"/>
              </a:spcBef>
              <a:defRPr sz="900">
                <a:solidFill>
                  <a:srgbClr val="CBD5E1"/>
                </a:solidFill>
              </a:defRPr>
            </a:pPr>
            <a:r>
              <a:t>Simulation Software:</a:t>
            </a:r>
            <a:br/>
            <a:r>
              <a:t>Solar-Computer / Hottgenroth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BIM QTO  •  DWG NO: A-601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Revit BIM Quantities Takeoff &amp; Component Schedules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09 of 12</a:t>
            </a:r>
          </a:p>
        </p:txBody>
      </p:sp>
      <p:pic>
        <p:nvPicPr>
          <p:cNvPr id="7" name="Picture 6" descr="1_Single_Family_Home_LOD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486400" cy="548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417320"/>
            <a:ext cx="49377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Automated Material Schedules (Massenermittlung)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Concrete C30/37 Volume:  142.6 m³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Foundation, RC columns &amp; slabs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Exterior Wall Surface:  372.0 m²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Gross exterior thermal boundary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Glazing &amp; Curtain Walls:  118.4 m²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WWR: 32% high solar gain glass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Mineral Wool Insulation:  372.0 m²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160mm rigid insulation (λ = 0.032)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Roof Waterproofing:  176.0 m²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2-layer bituminous waterproofing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Scheduled Openings:  28 Items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Full Revit door &amp; window schedule</a:t>
            </a:r>
          </a:p>
          <a:p>
            <a:pPr>
              <a:spcBef>
                <a:spcPts val="700"/>
              </a:spcBef>
              <a:defRPr sz="1000" b="1">
                <a:solidFill>
                  <a:srgbClr val="2563EB"/>
                </a:solidFill>
              </a:defRPr>
            </a:pPr>
            <a:r>
              <a:t>■ Interior Drywall Slabs:  485.0 m²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Scope: Non-bearing acoustic partition walls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MULTI-FAMILY BIM  •  DWG NO: A-701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Urban Multi-Story Residential Portfolio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10 of 12</a:t>
            </a:r>
          </a:p>
        </p:txBody>
      </p:sp>
      <p:pic>
        <p:nvPicPr>
          <p:cNvPr id="7" name="Picture 6" descr="2_Multi_Story_Residential_LOD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83680" cy="6583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17320"/>
            <a:ext cx="3840480" cy="4709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Multi-Family Residential Scope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Typology: Urban Multi-Story Residential Building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Storeys Count: 4 Storeys + Subterranean Parking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Total GFA (BGF): 1,120.0 m²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Units Count: 12 Residential Apartments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Thermal Zones: 12 Separate DIN EN 12831 Zones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BIM Authoring: Revit 2024 / OpenBIM IFC4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Turnaround Time: 48 Hours Delivery</a:t>
            </a:r>
          </a:p>
          <a:p>
            <a:pPr>
              <a:spcBef>
                <a:spcPts val="700"/>
              </a:spcBef>
              <a:defRPr sz="900">
                <a:solidFill>
                  <a:srgbClr val="64748B"/>
                </a:solidFill>
              </a:defRPr>
            </a:pPr>
            <a:r>
              <a:t>• MEP Scope: Strictly Pure Architectural (No MEP)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RIBHUS BIM STUDIO  •  COMMERCIAL SCOPE  •  DWG NO: FEES-01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Transparent, Complexity-Based Production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657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theribhus.com</a:t>
            </a:r>
            <a:br/>
            <a:r>
              <a:t>Revit 2024 • LOD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Modern House: A Study in Minimalism  |  Autodesk Revit BIM Model  |  Page 11 of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Single-Family &amp; Small Residential</a:t>
            </a:r>
          </a:p>
          <a:p>
            <a:pPr>
              <a:spcBef>
                <a:spcPts val="400"/>
              </a:spcBef>
              <a:defRPr sz="1800" b="1">
                <a:solidFill>
                  <a:srgbClr val="2563EB"/>
                </a:solidFill>
              </a:defRPr>
            </a:pPr>
            <a:r>
              <a:t>€180 – €290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Turnaround: 24 – 48 Hours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Up to 250 m² Gross Floor Area (BGF)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LOD 200 / 300 Architectural Shell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Watertight envelope for energy audit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Native ArchiCAD (.pln) or Revit (.rvt)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OpenBIM (.ifc) + 2D PDF Drawing Output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1 revision round included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Multi-Story &amp; Complex Residential</a:t>
            </a:r>
          </a:p>
          <a:p>
            <a:pPr>
              <a:spcBef>
                <a:spcPts val="400"/>
              </a:spcBef>
              <a:defRPr sz="1800" b="1">
                <a:solidFill>
                  <a:srgbClr val="60A5FA"/>
                </a:solidFill>
              </a:defRPr>
            </a:pPr>
            <a:r>
              <a:t>€450 – €950+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</a:defRPr>
            </a:pPr>
            <a:r>
              <a:t>Turnaround: 48 – 72 Hours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✓ 250 m² to 1,200+ m² Gross Floor Area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✓ Multi-family, mixed-use, commercial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✓ Full thermal zone separation per DIN EN 12831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✓ Detailed Revit system families / ArchiCAD GDL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✓ QTO component schedules included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✓ 2 revision rounds included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Dedicated Studio Retainer</a:t>
            </a:r>
          </a:p>
          <a:p>
            <a:pPr>
              <a:spcBef>
                <a:spcPts val="400"/>
              </a:spcBef>
              <a:defRPr sz="1800" b="1">
                <a:solidFill>
                  <a:srgbClr val="2563EB"/>
                </a:solidFill>
              </a:defRPr>
            </a:pPr>
            <a:r>
              <a:t>From €1,500 / mo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Turnaround: Guaranteed 24h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Continuous external BIM production pod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8–15 models per month included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Priority queue with guaranteed 24h delivery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Shared templates, titleblocks &amp; layer standards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Direct Slack / Teams communication channel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</a:defRPr>
            </a:pPr>
            <a:r>
              <a:t>✓ Ideal for high-volume Energieberater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THE RIBHUS  •  BIM ARCHITECTURAL POD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Ready to convert your 2D plans into 3D BIM models?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Send your scanned blueprints, PDF drawings, or DWG surveys. We deliver production-ready ArchiCAD (.pln) and Revit (.rvt) models in 24–48 hours.</a:t>
            </a:r>
          </a:p>
          <a:p>
            <a:pPr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✉️ Email: contact@theribhus.com  |  info@theribhus.com</a:t>
            </a:r>
            <a:br/>
            <a:r>
              <a:t>🌐 Website: https://theribhus.com</a:t>
            </a:r>
            <a:br/>
            <a:r>
              <a:t>📂 Live Portfolio: https://ankitk-glitch.github.io/3d-portfolio/</a:t>
            </a:r>
            <a:br/>
            <a:r>
              <a:t>📍 Production Pods: Germany, Austria, Switzerland, European Union</a:t>
            </a:r>
            <a:br/>
            <a:r>
              <a:t>⚡ Deliverables: Autodesk Revit (.rvt), ArchiCAD (.pln), OpenBIM (.ifc), AutoCAD (.dwg)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