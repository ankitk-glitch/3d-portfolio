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ern_house_orthographic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0"/>
            <a:ext cx="7802575" cy="55175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594360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50392"/>
            <a:ext cx="594360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00784"/>
            <a:ext cx="594360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51176"/>
            <a:ext cx="594360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401568"/>
            <a:ext cx="594360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94360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102352"/>
            <a:ext cx="594360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952744"/>
            <a:ext cx="594360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THE RIBHUS  ·  BIM ARCHITECTURAL ATELIER  ·  theribhus.com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713232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9144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Helvetica Neue"/>
              </a:defRPr>
            </a:pPr>
            <a:r>
              <a:t>Modern House:</a:t>
            </a:r>
          </a:p>
          <a:p>
            <a:pPr algn="l">
              <a:spcBef>
                <a:spcPts val="200"/>
              </a:spcBef>
              <a:defRPr sz="2800" b="1">
                <a:solidFill>
                  <a:srgbClr val="60A5FA"/>
                </a:solidFill>
                <a:latin typeface="Helvetica Neue"/>
              </a:defRPr>
            </a:pPr>
            <a:r>
              <a:t>A Study in Minimalism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E2E8F0"/>
                </a:solidFill>
                <a:latin typeface="Helvetica Neue"/>
              </a:defRPr>
            </a:pPr>
            <a:r>
              <a:t>BIM-Driven Design  ·  Full Project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9476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136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60A5FA"/>
                </a:solidFill>
                <a:latin typeface="Helvetica Neue"/>
              </a:defRPr>
            </a:pPr>
            <a:r>
              <a:t>PLATFORM</a:t>
            </a:r>
          </a:p>
          <a:p>
            <a:pPr algn="l"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Autodesk Revit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9136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60A5FA"/>
                </a:solidFill>
                <a:latin typeface="Helvetica Neue"/>
              </a:defRPr>
            </a:pPr>
            <a:r>
              <a:t>STANDARD</a:t>
            </a:r>
          </a:p>
          <a:p>
            <a:pPr algn="l"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LOD 300 · DIN EN 12831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9136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60A5FA"/>
                </a:solidFill>
                <a:latin typeface="Helvetica Neue"/>
              </a:defRPr>
            </a:pPr>
            <a:r>
              <a:t>DELIVERY</a:t>
            </a:r>
          </a:p>
          <a:p>
            <a:pPr algn="l"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24 – 48 h · No MEP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66344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Helvetica Neue"/>
              </a:defRPr>
            </a:pPr>
            <a:r>
              <a:t>European BIM production studio converting scanned paper drawings, PDF blueprints &amp; 2D CAD surveys into production-ready Revit (.rvt) and ArchiCAD (.pln) architectural models for architects, real-estate planners, and Energieberater across the EU.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02  ·  PROJECT BRIEF  ·  A-000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Executive Brief &amp;</a:t>
            </a:r>
            <a:br/>
            <a:r>
              <a:t>Spatial Zoning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Helvetica Neue"/>
              </a:defRPr>
            </a:pPr>
            <a:r>
              <a:t>Development of an efficient spatial layout and refined exterior character. The project balances a fluid floor plan across private and social zones, integrating high-end amenities with distinct material selections.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36576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834640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3464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Strategic Spatial Zoning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12724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Helvetica Neue"/>
              </a:defRPr>
            </a:pPr>
            <a:r>
              <a:t>Optimized floor plan separating 4 master bedrooms from a spacious open-concept studio living area with double-height volume.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36576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23360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233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Material &amp; Facade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31596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Helvetica Neue"/>
              </a:defRPr>
            </a:pPr>
            <a:r>
              <a:t>Anthracite metal cladding, natural cedar timber battens, triple-pane structural curtain walls — precisely modeled in BIM.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212080"/>
            <a:ext cx="36576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212080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52120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Landscape &amp; Water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50468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Helvetica Neue"/>
              </a:defRPr>
            </a:pPr>
            <a:r>
              <a:t>Curated site with infinity pool, sunken fire pit lounge, decorative water features — all included in the 3D model scope.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572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8A"/>
                </a:solidFill>
                <a:latin typeface="Helvetica Neue"/>
              </a:defRPr>
            </a:pPr>
            <a:r>
              <a:t>KEY PROJECT QUANTITIES  ·  BIM TAKEOFF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91440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914400"/>
            <a:ext cx="5394960" cy="1463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051560"/>
            <a:ext cx="5394960" cy="566928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14300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Plot / Site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14300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840.0 m²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664207"/>
            <a:ext cx="5394960" cy="56692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75564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Gross Floor Area (BGF)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75564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342.5 m²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276856"/>
            <a:ext cx="5394960" cy="566928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368296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Net Usable Area (NRF)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36829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278.4 m²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889504"/>
            <a:ext cx="5394960" cy="56692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980944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Heated Gross Volume (Ve)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980944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965.0 m³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502152"/>
            <a:ext cx="5394960" cy="566928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593592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Envelope Surface Area (A)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593592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612.0 m²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56692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20624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Compactness Ratio (A/Ve)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20624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0.63 m⁻¹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727448"/>
            <a:ext cx="5394960" cy="566928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81888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Exterior Glazing 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81888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118.4 m²  (WWR 32%)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340096"/>
            <a:ext cx="5394960" cy="56692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431536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Energy Standard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43153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Passivhaus / KfW 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952744"/>
            <a:ext cx="5394960" cy="566928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6044183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Helvetica Neue"/>
              </a:defRPr>
            </a:pPr>
            <a:r>
              <a:t>Regulated Standard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6044183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Helvetica Neue"/>
              </a:defRPr>
            </a:pPr>
            <a:r>
              <a:t>DIN EN 12831, DIN 277, GEG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ern_house_orthographic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86800" cy="61428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3474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03  ·  3D ARCHITECTURAL VIEW  ·  A-001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60" y="621792"/>
            <a:ext cx="3017520" cy="1463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74980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Orthographic</a:t>
            </a:r>
            <a:br/>
            <a:r>
              <a:t>3D Axonometric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0A5FA"/>
                </a:solidFill>
                <a:latin typeface="Helvetica Neue"/>
              </a:defRPr>
            </a:pPr>
            <a:r>
              <a:t>Model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2011680"/>
            <a:ext cx="301752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42832" y="208483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230428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2E8F0"/>
                </a:solidFill>
                <a:latin typeface="Helvetica Neue"/>
              </a:defRPr>
            </a:pPr>
            <a:r>
              <a:t>Orthographic Axon (30°/60°)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24912"/>
            <a:ext cx="301752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27980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30175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2E8F0"/>
                </a:solidFill>
                <a:latin typeface="Helvetica Neue"/>
              </a:defRPr>
            </a:pPr>
            <a:r>
              <a:t>Autodesk Revit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3438144"/>
            <a:ext cx="301752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3511296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LOD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373075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2E8F0"/>
                </a:solidFill>
                <a:latin typeface="Helvetica Neue"/>
              </a:defRPr>
            </a:pPr>
            <a:r>
              <a:t>LOD 300 Design Dev.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4151376"/>
            <a:ext cx="301752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422452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ENVELOPE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444398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2E8F0"/>
                </a:solidFill>
                <a:latin typeface="Helvetica Neue"/>
              </a:defRPr>
            </a:pPr>
            <a:r>
              <a:t>Watertight Thermal Shell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4864608"/>
            <a:ext cx="301752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493776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515721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2E8F0"/>
                </a:solidFill>
                <a:latin typeface="Helvetica Neue"/>
              </a:defRPr>
            </a:pPr>
            <a:r>
              <a:t>Pool, Hardscape, Greenroof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5577840"/>
            <a:ext cx="301752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565099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587044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2E8F0"/>
                </a:solidFill>
                <a:latin typeface="Helvetica Neue"/>
              </a:defRPr>
            </a:pPr>
            <a:r>
              <a:t>.rvt + .pln + IFC4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17920"/>
            <a:ext cx="8686800" cy="64008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29107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Helvetica Neue"/>
              </a:defRPr>
            </a:pPr>
            <a:r>
              <a:t>Modern House: A Study in Minimalism  ·  Autodesk Revit 2024  ·  THE RIBHUS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04  ·  FLOOR PLANS  ·  A-101 / A-102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54864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Ground Floor + Upper Level Plans  ·  Scale 1:100</a:t>
            </a:r>
          </a:p>
        </p:txBody>
      </p:sp>
      <p:pic>
        <p:nvPicPr>
          <p:cNvPr id="6" name="Picture 5" descr="floor_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5669280" cy="4233062"/>
          </a:xfrm>
          <a:prstGeom prst="rect">
            <a:avLst/>
          </a:prstGeom>
        </p:spPr>
      </p:pic>
      <p:pic>
        <p:nvPicPr>
          <p:cNvPr id="7" name="Picture 6" descr="3_Architectural_Floorplan_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98448"/>
            <a:ext cx="5577840" cy="5577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5852160"/>
            <a:ext cx="12191695" cy="68580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GROUND BGF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185.2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DOUBLE-HEIGHT LIVING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64.8 m²  (5.8m)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UPPER BGF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157.3 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MASTER BEDROOM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28.5 m²  + ensuite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GREEN ROOF TERRACE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88.0 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DIN 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DIN 1356 / DIN 277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05  ·  SECTIONS &amp; ELEVATIONS  ·  A-201 / A-301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54864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Building Sections &amp; Facade Elevations</a:t>
            </a:r>
          </a:p>
        </p:txBody>
      </p:sp>
      <p:pic>
        <p:nvPicPr>
          <p:cNvPr id="6" name="Picture 5" descr="section_dra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5486400" cy="40965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1298448"/>
            <a:ext cx="1280160" cy="292608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0A5FA"/>
                </a:solidFill>
                <a:latin typeface="Helvetica Neue"/>
              </a:defRPr>
            </a:pPr>
            <a:r>
              <a:t>SECTION  A-201</a:t>
            </a:r>
          </a:p>
        </p:txBody>
      </p:sp>
      <p:pic>
        <p:nvPicPr>
          <p:cNvPr id="9" name="Picture 8" descr="elevation_draw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98448"/>
            <a:ext cx="5486400" cy="40965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298448"/>
            <a:ext cx="1417320" cy="292608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353312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0A5FA"/>
                </a:solidFill>
                <a:latin typeface="Helvetica Neue"/>
              </a:defRPr>
            </a:pPr>
            <a:r>
              <a:t>ELEVATION  A-301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852160"/>
            <a:ext cx="12191695" cy="68580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FLOOR-TO-FLOOR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3.30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GROUND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2.85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LEVEL 1 CEILING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2.70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FACADE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Zinc RAL 7016 + Cedar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GLAZING UW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0.78 W/m²K (Triple)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590702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61081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Helvetica Neue"/>
              </a:defRPr>
            </a:pPr>
            <a:r>
              <a:t>1:100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xonometric_explo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46720" cy="60082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3474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06  ·  BIM HIERARCHY  ·  A-401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621792"/>
            <a:ext cx="3566160" cy="1463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74980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3D Exploded</a:t>
            </a:r>
            <a:br/>
            <a:r>
              <a:t>Axonometric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60A5FA"/>
                </a:solidFill>
                <a:latin typeface="Helvetica Neue"/>
              </a:defRPr>
            </a:pPr>
            <a:r>
              <a:t>4-Tier BIM Assembly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920240"/>
            <a:ext cx="3566160" cy="105156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920240"/>
            <a:ext cx="27432" cy="1051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201168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Helvetica Neue"/>
              </a:defRPr>
            </a:pPr>
            <a:r>
              <a:t>T4 · Roof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30428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Helvetica Neue"/>
              </a:defRPr>
            </a:pPr>
            <a:r>
              <a:t>Sedum greenroof, drainage mat, parapet.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108960"/>
            <a:ext cx="3566160" cy="105156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108960"/>
            <a:ext cx="27432" cy="10515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320040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0A5FA"/>
                </a:solidFill>
                <a:latin typeface="Helvetica Neue"/>
              </a:defRPr>
            </a:pPr>
            <a:r>
              <a:t>T3 · Upper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4930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Helvetica Neue"/>
              </a:defRPr>
            </a:pPr>
            <a:r>
              <a:t>4 master suites, cantilevered balconies.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297680"/>
            <a:ext cx="3566160" cy="105156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297680"/>
            <a:ext cx="27432" cy="10515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438912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0A5FA"/>
                </a:solidFill>
                <a:latin typeface="Helvetica Neue"/>
              </a:defRPr>
            </a:pPr>
            <a:r>
              <a:t>T2 · Ground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46817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Helvetica Neue"/>
              </a:defRPr>
            </a:pPr>
            <a:r>
              <a:t>RC columns, curtain glass, double garage.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5486400"/>
            <a:ext cx="3566160" cy="105156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5486400"/>
            <a:ext cx="27432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557784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BBF24"/>
                </a:solidFill>
                <a:latin typeface="Helvetica Neue"/>
              </a:defRPr>
            </a:pPr>
            <a:r>
              <a:t>T1 · Sub-Structure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58704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Helvetica Neue"/>
              </a:defRPr>
            </a:pPr>
            <a:r>
              <a:t>Foundation slab, pool basin, topography.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07  ·  BUILDING PHYSICS  ·  A-501  ·  DIN EN 12831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54864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Thermal Envelope &amp; Energy Audit Calculation</a:t>
            </a:r>
          </a:p>
        </p:txBody>
      </p:sp>
      <p:pic>
        <p:nvPicPr>
          <p:cNvPr id="6" name="Picture 5" descr="energy_audit_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6309360" cy="471098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0" y="1298448"/>
            <a:ext cx="4983480" cy="484632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417320"/>
            <a:ext cx="498348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481328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EXTERIOR WALL U-VALUE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728216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Passivhaus standard — triple mineral wool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527048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0.16 W/m²K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075688"/>
            <a:ext cx="4983480" cy="62179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139696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ROOF DECK U-VALUE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386584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PIR rigid foam — 220mm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85416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0.12 W/m²K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734056"/>
            <a:ext cx="498348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798064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GROUND SLAB U-VALUE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044952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EPS perimeter insulation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843784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0.18 W/m²K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392424"/>
            <a:ext cx="4983480" cy="62179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456432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WINDOW ASSEMBLY (UW)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7033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Triple-pane Argon glass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02152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0.78 W/m²K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4050791"/>
            <a:ext cx="498348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411480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ENVELOPE AREA (A)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6168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Watertight thermal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160520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612.0 m²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709159"/>
            <a:ext cx="4983480" cy="62179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4773168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HEATED VOLUME (VE)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020055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Per DIN EN 12831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818888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965.0 m³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5367528"/>
            <a:ext cx="4983480" cy="62179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5431536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ENERGY STANDARD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678424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Passivhaus level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477256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KfW 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08  ·  BIM QTO  ·  A-601  ·  MASSENERMITTLUNG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54864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Revit Quantities Takeoff &amp; Material Schedules</a:t>
            </a:r>
          </a:p>
        </p:txBody>
      </p:sp>
      <p:pic>
        <p:nvPicPr>
          <p:cNvPr id="6" name="Picture 5" descr="1_Single_Family_Home_LOD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5029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577840" y="1298448"/>
            <a:ext cx="621792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35331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Helvetica Neue"/>
              </a:defRPr>
            </a:pPr>
            <a:r>
              <a:t>COMPONENT / MATERIAL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3533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Helvetica Neue"/>
              </a:defRPr>
            </a:pPr>
            <a:r>
              <a:t>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35331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Helvetica Neue"/>
              </a:defRPr>
            </a:pPr>
            <a:r>
              <a:t>SCOPE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737360"/>
            <a:ext cx="6217920" cy="53035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82880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Helvetica Neue"/>
              </a:defRPr>
            </a:pPr>
            <a:r>
              <a:t>Concrete C30/37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A5FA"/>
                </a:solidFill>
                <a:latin typeface="Helvetica Neue"/>
              </a:defRPr>
            </a:pPr>
            <a:r>
              <a:t>142.6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182880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Foundation, RC cols &amp; slabs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304288"/>
            <a:ext cx="6217920" cy="53035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39572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Helvetica Neue"/>
              </a:defRPr>
            </a:pPr>
            <a:r>
              <a:t>Exterior Wall Surface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A5FA"/>
                </a:solidFill>
                <a:latin typeface="Helvetica Neue"/>
              </a:defRPr>
            </a:pPr>
            <a:r>
              <a:t>372.0 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395728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Gross thermal boundary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871215"/>
            <a:ext cx="6217920" cy="53035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962656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Helvetica Neue"/>
              </a:defRPr>
            </a:pPr>
            <a:r>
              <a:t>Glazing &amp; Curtain Walls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962656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A5FA"/>
                </a:solidFill>
                <a:latin typeface="Helvetica Neue"/>
              </a:defRPr>
            </a:pPr>
            <a:r>
              <a:t>118.4 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96265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WWR: 32% high solar gain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438144"/>
            <a:ext cx="6217920" cy="53035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529584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Helvetica Neue"/>
              </a:defRPr>
            </a:pPr>
            <a:r>
              <a:t>Mineral Wool Insulation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529584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A5FA"/>
                </a:solidFill>
                <a:latin typeface="Helvetica Neue"/>
              </a:defRPr>
            </a:pPr>
            <a:r>
              <a:t>372.0 m²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529584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160mm rigid (λ = 0.032)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005072"/>
            <a:ext cx="6217920" cy="53035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4096511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Helvetica Neue"/>
              </a:defRPr>
            </a:pPr>
            <a:r>
              <a:t>Roof Waterproofing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096511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A5FA"/>
                </a:solidFill>
                <a:latin typeface="Helvetica Neue"/>
              </a:defRPr>
            </a:pPr>
            <a:r>
              <a:t>176.0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096511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2-layer bituminous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4572000"/>
            <a:ext cx="6217920" cy="53035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46634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Helvetica Neue"/>
              </a:defRPr>
            </a:pPr>
            <a:r>
              <a:t>Scheduled Openings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663440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A5FA"/>
                </a:solidFill>
                <a:latin typeface="Helvetica Neue"/>
              </a:defRPr>
            </a:pPr>
            <a:r>
              <a:t>28 items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66344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Full door &amp; window schedule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5138927"/>
            <a:ext cx="6217920" cy="53035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5230367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Helvetica Neue"/>
              </a:defRPr>
            </a:pPr>
            <a:r>
              <a:t>Interior Drywall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230367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A5FA"/>
                </a:solidFill>
                <a:latin typeface="Helvetica Neue"/>
              </a:defRPr>
            </a:pPr>
            <a:r>
              <a:t>485.0 m²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5230367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Non-bearing acoustic walls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5705856"/>
            <a:ext cx="6217920" cy="53035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5797296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Helvetica Neue"/>
              </a:defRPr>
            </a:pPr>
            <a:r>
              <a:t>Steel Framing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797296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A5FA"/>
                </a:solidFill>
                <a:latin typeface="Helvetica Neue"/>
              </a:defRPr>
            </a:pPr>
            <a:r>
              <a:t>12.4 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5797296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Cantilevered balcony frames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_Multi_Story_Residential_LOD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7772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3474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09  ·  MULTI-FAMILY REFERENCE  ·  A-701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621792"/>
            <a:ext cx="3931920" cy="1463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749808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Urban Multi-Story</a:t>
            </a:r>
            <a:br/>
            <a:r>
              <a:t>Residential Reference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0A5FA"/>
                </a:solidFill>
                <a:latin typeface="Helvetica Neue"/>
              </a:defRPr>
            </a:pPr>
            <a:r>
              <a:t>European Multi-Family BIM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1965960"/>
            <a:ext cx="3931920" cy="53035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57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TYPOLOGY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0574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</a:defRPr>
            </a:pPr>
            <a:r>
              <a:t>Urban Multi-Story Residential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2542032"/>
            <a:ext cx="3931920" cy="53035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6334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STOREYS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63347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</a:defRPr>
            </a:pPr>
            <a:r>
              <a:t>4 Floors + Underground Parking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3118104"/>
            <a:ext cx="3931920" cy="53035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20954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TOTAL GFA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0954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</a:defRPr>
            </a:pPr>
            <a:r>
              <a:t>1,120 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694176"/>
            <a:ext cx="3931920" cy="53035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785615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785615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</a:defRPr>
            </a:pPr>
            <a:r>
              <a:t>12 Residential Apartments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4270248"/>
            <a:ext cx="3931920" cy="53035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36168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ZONES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3616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</a:defRPr>
            </a:pPr>
            <a:r>
              <a:t>12 DIN EN 12831 Thermal Zones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4846320"/>
            <a:ext cx="3931920" cy="53035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93775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93775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</a:defRPr>
            </a:pPr>
            <a:r>
              <a:t>Revit 2024 / OpenBIM IFC4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5422392"/>
            <a:ext cx="3931920" cy="53035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513831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5513831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</a:defRPr>
            </a:pPr>
            <a:r>
              <a:t>48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5998464"/>
            <a:ext cx="3931920" cy="530352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608990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60A5FA"/>
                </a:solidFill>
                <a:latin typeface="Helvetica Neue"/>
              </a:defRPr>
            </a:pPr>
            <a:r>
              <a:t>MEP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608990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 Neue"/>
              </a:defRPr>
            </a:pPr>
            <a:r>
              <a:t>Pure Architectural — No MEP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6400800" cy="731520"/>
          </a:xfrm>
          <a:prstGeom prst="rect">
            <a:avLst/>
          </a:prstGeom>
          <a:solidFill>
            <a:srgbClr val="0C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10  ·  COMMERCIAL SCOPE  ·  FEES-01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4864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Transparent, Complexity-Based Pricing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Helvetica Neue"/>
              </a:defRPr>
            </a:pPr>
            <a:r>
              <a:t>Every model priced according to GFA, geometry &amp; LOD — no bundles, no surprises.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657600" cy="521208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657600" cy="54864"/>
          </a:xfrm>
          <a:prstGeom prst="rect">
            <a:avLst/>
          </a:prstGeom>
          <a:solidFill>
            <a:srgbClr val="1E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Single-Family</a:t>
            </a:r>
            <a:br/>
            <a:r>
              <a:t>Residential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1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0A5FA"/>
                </a:solidFill>
                <a:latin typeface="Helvetica Neue"/>
              </a:defRPr>
            </a:pPr>
            <a:r>
              <a:t>€180</a:t>
            </a:r>
            <a:br/>
            <a:r>
              <a:t>– €290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⏱ Turnaround: 24 – 48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82112"/>
            <a:ext cx="3291840" cy="109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Up to 250 m² BGF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LOD 200/300 Arch. Shell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Watertight energy envelope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00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Revit (.rvt) or ArchiCAD (.pln)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03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OpenBIM (.ifc) + 2D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06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1 revision included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417320"/>
            <a:ext cx="3657600" cy="521208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59" y="141732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23444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0A5FA"/>
                </a:solidFill>
                <a:latin typeface="Helvetica Neue"/>
              </a:defRPr>
            </a:pPr>
            <a:r>
              <a:t>★  Most Requested by Energieberater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5361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Multi-Story</a:t>
            </a:r>
            <a:br/>
            <a:r>
              <a:t>&amp; Complex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084831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0A5FA"/>
                </a:solidFill>
                <a:latin typeface="Helvetica Neue"/>
              </a:defRPr>
            </a:pPr>
            <a:r>
              <a:t>€450</a:t>
            </a:r>
            <a:br/>
            <a:r>
              <a:t>– €950+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5292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⏱ Turnaround: 48 – 72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182112"/>
            <a:ext cx="3291840" cy="109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291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Helvetica Neue"/>
              </a:defRPr>
            </a:pPr>
            <a:r>
              <a:t>✓  250 m² – 1,200+ m² BGF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94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Helvetica Neue"/>
              </a:defRPr>
            </a:pPr>
            <a:r>
              <a:t>✓  Multi-family, mixed-use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Helvetica Neue"/>
              </a:defRPr>
            </a:pPr>
            <a:r>
              <a:t>✓  Thermal zone per DIN EN 12831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800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Helvetica Neue"/>
              </a:defRPr>
            </a:pPr>
            <a:r>
              <a:t>✓  Revit system families / GDL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303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Helvetica Neue"/>
              </a:defRPr>
            </a:pPr>
            <a:r>
              <a:t>✓  QTO schedules included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806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Helvetica Neue"/>
              </a:defRPr>
            </a:pPr>
            <a:r>
              <a:t>✓  2 revisions included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1417320"/>
            <a:ext cx="3657600" cy="521208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1417320"/>
            <a:ext cx="3657600" cy="54864"/>
          </a:xfrm>
          <a:prstGeom prst="rect">
            <a:avLst/>
          </a:prstGeom>
          <a:solidFill>
            <a:srgbClr val="1E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15361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Helvetica Neue"/>
              </a:defRPr>
            </a:pPr>
            <a:r>
              <a:t>Dedicated</a:t>
            </a:r>
            <a:br/>
            <a:r>
              <a:t>Studio Retainer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2084831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0A5FA"/>
                </a:solidFill>
                <a:latin typeface="Helvetica Neue"/>
              </a:defRPr>
            </a:pPr>
            <a:r>
              <a:t>€1,500</a:t>
            </a:r>
            <a:br/>
            <a:r>
              <a:t>/month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285292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⏱ Turnaround: Guaranteed 24h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59" y="3182112"/>
            <a:ext cx="3291840" cy="109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59" y="3291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External BIM production pod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3794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8–15 models/month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59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Priority 24h queue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59" y="4800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Shared templates &amp; standards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59" y="5303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Direct Slack/Teams channel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59" y="5806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Helvetica Neue"/>
              </a:defRPr>
            </a:pPr>
            <a:r>
              <a:t>✓  Ideal for Energieberater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Helvetica Neue"/>
              </a:defRPr>
            </a:pPr>
            <a:r>
              <a:t>All models: watertight IFC · native Revit/ArchiCAD · DIN EN 12831 / GEG 2024 / DIN 277 compliant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11  ·  HOW TO ORDER  · 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54864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3-Step Production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Helvetica Neue"/>
              </a:defRPr>
            </a:pPr>
            <a:r>
              <a:t>From scanned blueprints to a production-ready BIM model in 24–48 hours.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11551615" cy="132588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54864" cy="1325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SEND YOUR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31720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Helvetica Neue"/>
              </a:defRPr>
            </a:pPr>
            <a:r>
              <a:t>Upload scanned blueprints, PDF plans, 2D DWG files, or hand-survey sketches to contact@theribhus.com. Any format accepted — we handle the cleanup.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83279"/>
            <a:ext cx="11551615" cy="132588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383279"/>
            <a:ext cx="54864" cy="1325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9300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RECEIVE FIXED-PRICE 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79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Helvetica Neue"/>
              </a:defRPr>
            </a:pPr>
            <a:r>
              <a:t>Within 2–4 hours, we review your drawings and send a detailed fixed-fee quote based on GFA, geometry complexity, and required LOD. No hourly billing.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892040"/>
            <a:ext cx="11551615" cy="1325880"/>
          </a:xfrm>
          <a:prstGeom prst="rect">
            <a:avLst/>
          </a:prstGeom>
          <a:solidFill>
            <a:srgbClr val="0C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892040"/>
            <a:ext cx="54864" cy="1325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8347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00176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GET YOUR BIM MODEL (24–48h)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49240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Helvetica Neue"/>
              </a:defRPr>
            </a:pPr>
            <a:r>
              <a:t>Your production-ready Revit (.rvt), ArchiCAD (.pln), and OpenBIM (.ifc) files are delivered via secure transfer link within 24–48 hours. DIN EN 12831 compliant.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0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" y="566928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1133856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" y="1700784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" y="2267712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" y="2834640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" y="3401568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" y="3968496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" y="4535424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" y="5102352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" y="5669280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" y="6236208"/>
            <a:ext cx="12127687" cy="731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12  ·  CONTACT  ·  THE RIBHUS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64008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914400"/>
            <a:ext cx="8686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Helvetica Neue"/>
              </a:defRPr>
            </a:pPr>
            <a:r>
              <a:t>THE RIBHUS</a:t>
            </a:r>
          </a:p>
          <a:p>
            <a:pPr algn="l">
              <a:spcBef>
                <a:spcPts val="600"/>
              </a:spcBef>
              <a:defRPr sz="4200" b="1">
                <a:solidFill>
                  <a:srgbClr val="FFFFFF"/>
                </a:solidFill>
                <a:latin typeface="Helvetica Neue"/>
              </a:defRPr>
            </a:pPr>
            <a:r>
              <a:t>Ready to convert your</a:t>
            </a:r>
            <a:br/>
            <a:r>
              <a:t>2D plans into 3D BIM?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Helvetica Neue"/>
              </a:defRPr>
            </a:pPr>
            <a:r>
              <a:t>Send your scanned blueprints, PDF drawings, or DWG surveys. We deliver production-ready ArchiCAD (.pln) and Revit (.rvt) models in 24–48 hours. Strictly architectural — no MEP overhead.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60520"/>
            <a:ext cx="11551615" cy="146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976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537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contact@theribhus.com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42976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WEBSITE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45537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theribhus.com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2976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5537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ankitk-glitch.github.io/3d-portfolio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REGION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681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Germany · Austria · Switzerland · EU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52120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0A5FA"/>
                </a:solidFill>
                <a:latin typeface="Helvetica Neue"/>
              </a:defRPr>
            </a:pPr>
            <a:r>
              <a:t>FORMATS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54681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Revit (.rvt) · ArchiCAD (.pln) · IFC4 · DWG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Helvetica Neue"/>
              </a:defRPr>
            </a:pPr>
            <a:r>
              <a:t>THE RIBHUS · theribhus.com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644652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  <a:latin typeface="Helvetica Neue"/>
              </a:defRPr>
            </a:pPr>
            <a:r>
              <a:t>Revit 2024  ·  ArchiCAD  ·  IFC4  ·  LOD 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